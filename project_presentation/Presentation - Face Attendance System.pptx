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Helvetica World" charset="1" panose="020B0500040000020004"/>
      <p:regular r:id="rId23"/>
    </p:embeddedFont>
    <p:embeddedFont>
      <p:font typeface="Georgia Pro Condensed" charset="1" panose="02040506050405020303"/>
      <p:regular r:id="rId24"/>
    </p:embeddedFont>
    <p:embeddedFont>
      <p:font typeface="Helvetica World Bold" charset="1" panose="020B08000400000200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jpeg" Type="http://schemas.openxmlformats.org/officeDocument/2006/relationships/image"/><Relationship Id="rId4" Target="../media/image16.jpeg" Type="http://schemas.openxmlformats.org/officeDocument/2006/relationships/image"/><Relationship Id="rId5" Target="../media/image17.jpe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jpeg" Type="http://schemas.openxmlformats.org/officeDocument/2006/relationships/image"/><Relationship Id="rId4" Target="../media/image2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22.jpeg" Type="http://schemas.openxmlformats.org/officeDocument/2006/relationships/image"/><Relationship Id="rId4" Target="../media/image2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25.jpeg" Type="http://schemas.openxmlformats.org/officeDocument/2006/relationships/image"/><Relationship Id="rId4" Target="../media/image2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Relationship Id="rId3" Target="../media/image29.jpeg" Type="http://schemas.openxmlformats.org/officeDocument/2006/relationships/image"/><Relationship Id="rId4" Target="../media/image30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jpeg" Type="http://schemas.openxmlformats.org/officeDocument/2006/relationships/image"/><Relationship Id="rId3" Target="../media/image32.jpeg" Type="http://schemas.openxmlformats.org/officeDocument/2006/relationships/image"/><Relationship Id="rId4" Target="../media/image33.jpeg" Type="http://schemas.openxmlformats.org/officeDocument/2006/relationships/image"/><Relationship Id="rId5" Target="../media/image34.jpe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Relationship Id="rId3" Target="../media/image36.jpeg" Type="http://schemas.openxmlformats.org/officeDocument/2006/relationships/image"/><Relationship Id="rId4" Target="../media/image37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95A5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01760"/>
            <a:ext cx="6886575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2C3E5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Presented by [Your Name]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975068"/>
            <a:ext cx="9754495" cy="579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 strike="noStrike" u="none">
                <a:solidFill>
                  <a:srgbClr val="2C3E5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Face Attendance System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3E5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4BCA79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4057650"/>
            <a:chOff x="0" y="0"/>
            <a:chExt cx="17259300" cy="5410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2C3E5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What is Face Attendance?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2593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2C3E5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Automated Attendance Tracking System Overview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59641"/>
              <a:ext cx="13512134" cy="23505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2C3E5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Face Attendance System utilizes </a:t>
              </a:r>
              <a:r>
                <a:rPr lang="en-US" b="true" sz="2499" spc="-37">
                  <a:solidFill>
                    <a:srgbClr val="2C3E5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live camera</a:t>
              </a:r>
              <a:r>
                <a:rPr lang="en-US" sz="2499" spc="-37">
                  <a:solidFill>
                    <a:srgbClr val="2C3E5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technology and advanced face matching algorithms to automate attendance tracking, ensuring accuracy and efficiency while significantly reducing manual efforts for instructors.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8324850" cy="6716121"/>
            <a:chOff x="0" y="0"/>
            <a:chExt cx="1253399" cy="10111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3399" cy="1011187"/>
            </a:xfrm>
            <a:custGeom>
              <a:avLst/>
              <a:gdLst/>
              <a:ahLst/>
              <a:cxnLst/>
              <a:rect r="r" b="b" t="t" l="l"/>
              <a:pathLst>
                <a:path h="1011187" w="1253399">
                  <a:moveTo>
                    <a:pt x="18600" y="0"/>
                  </a:moveTo>
                  <a:lnTo>
                    <a:pt x="1234799" y="0"/>
                  </a:lnTo>
                  <a:cubicBezTo>
                    <a:pt x="1239732" y="0"/>
                    <a:pt x="1244463" y="1960"/>
                    <a:pt x="1247951" y="5448"/>
                  </a:cubicBezTo>
                  <a:cubicBezTo>
                    <a:pt x="1251439" y="8936"/>
                    <a:pt x="1253399" y="13667"/>
                    <a:pt x="1253399" y="18600"/>
                  </a:cubicBezTo>
                  <a:lnTo>
                    <a:pt x="1253399" y="992587"/>
                  </a:lnTo>
                  <a:cubicBezTo>
                    <a:pt x="1253399" y="997520"/>
                    <a:pt x="1251439" y="1002251"/>
                    <a:pt x="1247951" y="1005739"/>
                  </a:cubicBezTo>
                  <a:cubicBezTo>
                    <a:pt x="1244463" y="1009227"/>
                    <a:pt x="1239732" y="1011187"/>
                    <a:pt x="1234799" y="1011187"/>
                  </a:cubicBezTo>
                  <a:lnTo>
                    <a:pt x="18600" y="1011187"/>
                  </a:lnTo>
                  <a:cubicBezTo>
                    <a:pt x="13667" y="1011187"/>
                    <a:pt x="8936" y="1009227"/>
                    <a:pt x="5448" y="1005739"/>
                  </a:cubicBezTo>
                  <a:cubicBezTo>
                    <a:pt x="1960" y="1002251"/>
                    <a:pt x="0" y="997520"/>
                    <a:pt x="0" y="992587"/>
                  </a:cubicBezTo>
                  <a:lnTo>
                    <a:pt x="0" y="18600"/>
                  </a:lnTo>
                  <a:cubicBezTo>
                    <a:pt x="0" y="13667"/>
                    <a:pt x="1960" y="8936"/>
                    <a:pt x="5448" y="5448"/>
                  </a:cubicBezTo>
                  <a:cubicBezTo>
                    <a:pt x="8936" y="1960"/>
                    <a:pt x="13667" y="0"/>
                    <a:pt x="18600" y="0"/>
                  </a:cubicBezTo>
                  <a:close/>
                </a:path>
              </a:pathLst>
            </a:custGeom>
            <a:blipFill>
              <a:blip r:embed="rId2"/>
              <a:stretch>
                <a:fillRect l="-109" t="0" r="-109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BCA7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069630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296400" y="7829550"/>
            <a:ext cx="8324850" cy="907161"/>
            <a:chOff x="0" y="0"/>
            <a:chExt cx="11099800" cy="1209548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110998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 spc="-42">
                  <a:solidFill>
                    <a:srgbClr val="2C3E5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Essential Component for Real-Time Tracking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779653"/>
              <a:ext cx="11099800" cy="429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0"/>
                </a:lnSpc>
                <a:spcBef>
                  <a:spcPct val="0"/>
                </a:spcBef>
              </a:pPr>
              <a:r>
                <a:rPr lang="en-US" sz="2000" spc="-30" strike="noStrike" u="none">
                  <a:solidFill>
                    <a:srgbClr val="2C3E5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Captures live images for attendance accuracy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66750" y="733425"/>
            <a:ext cx="5753100" cy="4492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-240">
                <a:solidFill>
                  <a:srgbClr val="2C3E5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Live Camera Integration for Attendance System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2C3E5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6545058" cy="8953500"/>
            <a:chOff x="0" y="0"/>
            <a:chExt cx="768828" cy="1051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828" cy="1051741"/>
            </a:xfrm>
            <a:custGeom>
              <a:avLst/>
              <a:gdLst/>
              <a:ahLst/>
              <a:cxnLst/>
              <a:rect r="r" b="b" t="t" l="l"/>
              <a:pathLst>
                <a:path h="1051741" w="768828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14" r="0" b="-41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733425"/>
            <a:ext cx="8324850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-240">
                <a:solidFill>
                  <a:srgbClr val="2C3E5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Face Matching Process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7883525"/>
            <a:ext cx="8324850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2C3E5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Face Matching Algorithm analyzes facial features captured by the camera, comparing them against stored images in the database to accurately determine identity, enabling efficient and automated attendance tracking.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908300"/>
            <a:ext cx="5448300" cy="6711950"/>
            <a:chOff x="0" y="0"/>
            <a:chExt cx="1434943" cy="1767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2908300"/>
            <a:ext cx="5448300" cy="6711950"/>
            <a:chOff x="0" y="0"/>
            <a:chExt cx="1434943" cy="17677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2908300"/>
            <a:ext cx="5448300" cy="6711950"/>
            <a:chOff x="0" y="0"/>
            <a:chExt cx="1434943" cy="17677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6053" y="4248150"/>
            <a:ext cx="4649694" cy="3581400"/>
            <a:chOff x="0" y="0"/>
            <a:chExt cx="1259398" cy="9700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2"/>
              <a:stretch>
                <a:fillRect l="-342" t="0" r="-342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819153" y="4248150"/>
            <a:ext cx="4649694" cy="3581400"/>
            <a:chOff x="0" y="0"/>
            <a:chExt cx="1259398" cy="9700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3"/>
              <a:stretch>
                <a:fillRect l="-342" t="0" r="-342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572253" y="4248150"/>
            <a:ext cx="4649694" cy="3581400"/>
            <a:chOff x="0" y="0"/>
            <a:chExt cx="1259398" cy="9700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4"/>
              <a:stretch>
                <a:fillRect l="-342" t="0" r="-342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21783" y="8282996"/>
            <a:ext cx="4738234" cy="603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2"/>
              </a:lnSpc>
            </a:pPr>
            <a:r>
              <a:rPr lang="en-US" sz="1744" spc="-26">
                <a:solidFill>
                  <a:srgbClr val="95A5A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camera captures live video feeds for accurate attendance tracking in classrooms.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1066" y="3381375"/>
            <a:ext cx="4699667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 strike="noStrike" u="none">
                <a:solidFill>
                  <a:srgbClr val="95A5A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Camera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73192" y="8282996"/>
            <a:ext cx="4741615" cy="603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2"/>
              </a:lnSpc>
            </a:pPr>
            <a:r>
              <a:rPr lang="en-US" sz="1744" spc="-26">
                <a:solidFill>
                  <a:srgbClr val="95A5A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algorithm processes captured images to verify identities quickly and efficiently.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73192" y="3381375"/>
            <a:ext cx="4741615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 strike="noStrike" u="none">
                <a:solidFill>
                  <a:srgbClr val="95A5A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Face Matching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51109" y="8281844"/>
            <a:ext cx="4691983" cy="603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2"/>
              </a:lnSpc>
            </a:pPr>
            <a:r>
              <a:rPr lang="en-US" sz="1744" spc="-26">
                <a:solidFill>
                  <a:srgbClr val="95A5A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database stores attendance records securely, ensuring easy retrieval and management.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51109" y="3381375"/>
            <a:ext cx="4691983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</a:pPr>
            <a:r>
              <a:rPr lang="en-US" sz="3800" spc="-95">
                <a:solidFill>
                  <a:srgbClr val="95A5A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Attendance Database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</a:pPr>
            <a:r>
              <a:rPr lang="en-US" sz="8000" spc="-200">
                <a:solidFill>
                  <a:srgbClr val="2C3E5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System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3E5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4BCA79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2C3E5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Key Features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6657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2C3E5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Essential elements of the system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959100"/>
            <a:chOff x="0" y="0"/>
            <a:chExt cx="5744662" cy="3945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574466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2C3E5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Real-time Attendance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60450"/>
              <a:ext cx="5744662" cy="2885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2C3E5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system tracks attendance in </a:t>
              </a:r>
              <a:r>
                <a:rPr lang="en-US" b="true" sz="2000" spc="-30" strike="noStrike" u="none">
                  <a:solidFill>
                    <a:srgbClr val="2C3E5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real-time</a:t>
              </a:r>
              <a:r>
                <a:rPr lang="en-US" sz="2000" spc="-30" strike="noStrike" u="none">
                  <a:solidFill>
                    <a:srgbClr val="2C3E5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ensuring that students are recorded accurately as they enter the classroom without any manual intervention, increasing efficiency significantly.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30525"/>
            <a:chOff x="0" y="0"/>
            <a:chExt cx="5346700" cy="39073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2C3E5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Automated Reporting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60450"/>
              <a:ext cx="5346700" cy="2846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2C3E5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Attendance data is compiled into </a:t>
              </a:r>
              <a:r>
                <a:rPr lang="en-US" b="true" sz="2000" spc="-30" strike="noStrike" u="none">
                  <a:solidFill>
                    <a:srgbClr val="2C3E5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automated reports</a:t>
              </a:r>
              <a:r>
                <a:rPr lang="en-US" sz="2000" spc="-30" strike="noStrike" u="none">
                  <a:solidFill>
                    <a:srgbClr val="2C3E5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providing instructors with comprehensive insights into attendance patterns and simplifying the administrative workload for efficient management.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3282950"/>
            <a:chOff x="0" y="0"/>
            <a:chExt cx="5346700" cy="43772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2C3E5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User-friendly Interface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60450"/>
              <a:ext cx="5346700" cy="3316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2C3E5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interface is designed to be </a:t>
              </a:r>
              <a:r>
                <a:rPr lang="en-US" b="true" sz="2000" spc="-30" strike="noStrike" u="none">
                  <a:solidFill>
                    <a:srgbClr val="2C3E5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intuitive and easy to navigate</a:t>
              </a:r>
              <a:r>
                <a:rPr lang="en-US" sz="2000" spc="-30" strike="noStrike" u="none">
                  <a:solidFill>
                    <a:srgbClr val="2C3E5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ensuring that both students and instructors can use the system without any complex training requirements, enhancing overall user experience.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908300"/>
            <a:ext cx="5448300" cy="6711950"/>
            <a:chOff x="0" y="0"/>
            <a:chExt cx="1434943" cy="1767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2908300"/>
            <a:ext cx="5448300" cy="6711950"/>
            <a:chOff x="0" y="0"/>
            <a:chExt cx="1434943" cy="17677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2908300"/>
            <a:ext cx="5448300" cy="6711950"/>
            <a:chOff x="0" y="0"/>
            <a:chExt cx="1434943" cy="17677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6053" y="4248150"/>
            <a:ext cx="4649694" cy="3581400"/>
            <a:chOff x="0" y="0"/>
            <a:chExt cx="1259398" cy="9700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2"/>
              <a:stretch>
                <a:fillRect l="-342" t="0" r="-342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819153" y="4248150"/>
            <a:ext cx="4649694" cy="3581400"/>
            <a:chOff x="0" y="0"/>
            <a:chExt cx="1259398" cy="9700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3"/>
              <a:stretch>
                <a:fillRect l="-342" t="0" r="-342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572253" y="4248150"/>
            <a:ext cx="4649694" cy="3581400"/>
            <a:chOff x="0" y="0"/>
            <a:chExt cx="1259398" cy="9700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4"/>
              <a:stretch>
                <a:fillRect l="-342" t="0" r="-342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21783" y="8273471"/>
            <a:ext cx="4738234" cy="67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7"/>
              </a:lnSpc>
            </a:pPr>
            <a:r>
              <a:rPr lang="en-US" sz="1862" spc="-27">
                <a:solidFill>
                  <a:srgbClr val="95A5A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system uses a live camera to </a:t>
            </a:r>
            <a:r>
              <a:rPr lang="en-US" b="true" sz="1862" spc="-27">
                <a:solidFill>
                  <a:srgbClr val="95A5A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capture</a:t>
            </a:r>
            <a:r>
              <a:rPr lang="en-US" sz="1862" spc="-27">
                <a:solidFill>
                  <a:srgbClr val="95A5A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students' faces for identification.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1066" y="3381375"/>
            <a:ext cx="4699667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 strike="noStrike" u="none">
                <a:solidFill>
                  <a:srgbClr val="95A5A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Capture Face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73192" y="8273471"/>
            <a:ext cx="4741615" cy="64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7"/>
              </a:lnSpc>
            </a:pPr>
            <a:r>
              <a:rPr lang="en-US" sz="1862" spc="-27">
                <a:solidFill>
                  <a:srgbClr val="95A5A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Captured faces are matched against the database for accurate attendance records.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73192" y="3381375"/>
            <a:ext cx="4741615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 strike="noStrike" u="none">
                <a:solidFill>
                  <a:srgbClr val="95A5A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Match with Database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51109" y="8272319"/>
            <a:ext cx="4691983" cy="64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7"/>
              </a:lnSpc>
            </a:pPr>
            <a:r>
              <a:rPr lang="en-US" sz="1862" spc="-27">
                <a:solidFill>
                  <a:srgbClr val="95A5A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Attendance is recorded automatically, ensuring efficiency and accuracy in tracking presence.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51109" y="3381375"/>
            <a:ext cx="4691983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</a:pPr>
            <a:r>
              <a:rPr lang="en-US" sz="3800" spc="-95">
                <a:solidFill>
                  <a:srgbClr val="95A5A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Record Attendance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</a:pPr>
            <a:r>
              <a:rPr lang="en-US" sz="8000" spc="-200">
                <a:solidFill>
                  <a:srgbClr val="2C3E5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Implementation Steps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4010025" cy="2340610"/>
            <a:chOff x="0" y="0"/>
            <a:chExt cx="1029283" cy="6007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9283" cy="600782"/>
            </a:xfrm>
            <a:custGeom>
              <a:avLst/>
              <a:gdLst/>
              <a:ahLst/>
              <a:cxnLst/>
              <a:rect r="r" b="b" t="t" l="l"/>
              <a:pathLst>
                <a:path h="600782" w="1029283">
                  <a:moveTo>
                    <a:pt x="38613" y="0"/>
                  </a:moveTo>
                  <a:lnTo>
                    <a:pt x="990671" y="0"/>
                  </a:lnTo>
                  <a:cubicBezTo>
                    <a:pt x="1011996" y="0"/>
                    <a:pt x="1029283" y="17288"/>
                    <a:pt x="1029283" y="38613"/>
                  </a:cubicBezTo>
                  <a:lnTo>
                    <a:pt x="1029283" y="562169"/>
                  </a:lnTo>
                  <a:cubicBezTo>
                    <a:pt x="1029283" y="583494"/>
                    <a:pt x="1011996" y="600782"/>
                    <a:pt x="990671" y="600782"/>
                  </a:cubicBezTo>
                  <a:lnTo>
                    <a:pt x="38613" y="600782"/>
                  </a:lnTo>
                  <a:cubicBezTo>
                    <a:pt x="17288" y="600782"/>
                    <a:pt x="0" y="583494"/>
                    <a:pt x="0" y="562169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2"/>
              <a:stretch>
                <a:fillRect l="-102" t="0" r="-102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3611225" y="5143500"/>
            <a:ext cx="4010025" cy="2238375"/>
            <a:chOff x="0" y="0"/>
            <a:chExt cx="1029283" cy="5745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9283" cy="574541"/>
            </a:xfrm>
            <a:custGeom>
              <a:avLst/>
              <a:gdLst/>
              <a:ahLst/>
              <a:cxnLst/>
              <a:rect r="r" b="b" t="t" l="l"/>
              <a:pathLst>
                <a:path h="574541" w="1029283">
                  <a:moveTo>
                    <a:pt x="38613" y="0"/>
                  </a:moveTo>
                  <a:lnTo>
                    <a:pt x="990671" y="0"/>
                  </a:lnTo>
                  <a:cubicBezTo>
                    <a:pt x="1011996" y="0"/>
                    <a:pt x="1029283" y="17288"/>
                    <a:pt x="1029283" y="38613"/>
                  </a:cubicBezTo>
                  <a:lnTo>
                    <a:pt x="1029283" y="535928"/>
                  </a:lnTo>
                  <a:cubicBezTo>
                    <a:pt x="1029283" y="557253"/>
                    <a:pt x="1011996" y="574541"/>
                    <a:pt x="990671" y="574541"/>
                  </a:cubicBezTo>
                  <a:lnTo>
                    <a:pt x="38613" y="574541"/>
                  </a:lnTo>
                  <a:cubicBezTo>
                    <a:pt x="17288" y="574541"/>
                    <a:pt x="0" y="557253"/>
                    <a:pt x="0" y="535928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3"/>
              <a:stretch>
                <a:fillRect l="-401" t="0" r="-401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611225" y="666750"/>
            <a:ext cx="4010025" cy="2340610"/>
            <a:chOff x="0" y="0"/>
            <a:chExt cx="1029283" cy="6007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9283" cy="600782"/>
            </a:xfrm>
            <a:custGeom>
              <a:avLst/>
              <a:gdLst/>
              <a:ahLst/>
              <a:cxnLst/>
              <a:rect r="r" b="b" t="t" l="l"/>
              <a:pathLst>
                <a:path h="600782" w="1029283">
                  <a:moveTo>
                    <a:pt x="38613" y="0"/>
                  </a:moveTo>
                  <a:lnTo>
                    <a:pt x="990671" y="0"/>
                  </a:lnTo>
                  <a:cubicBezTo>
                    <a:pt x="1011996" y="0"/>
                    <a:pt x="1029283" y="17288"/>
                    <a:pt x="1029283" y="38613"/>
                  </a:cubicBezTo>
                  <a:lnTo>
                    <a:pt x="1029283" y="562169"/>
                  </a:lnTo>
                  <a:cubicBezTo>
                    <a:pt x="1029283" y="583494"/>
                    <a:pt x="1011996" y="600782"/>
                    <a:pt x="990671" y="600782"/>
                  </a:cubicBezTo>
                  <a:lnTo>
                    <a:pt x="38613" y="600782"/>
                  </a:lnTo>
                  <a:cubicBezTo>
                    <a:pt x="17288" y="600782"/>
                    <a:pt x="0" y="583494"/>
                    <a:pt x="0" y="562169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4"/>
              <a:stretch>
                <a:fillRect l="-102" t="0" r="-102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296400" y="5143500"/>
            <a:ext cx="4010025" cy="2239371"/>
            <a:chOff x="0" y="0"/>
            <a:chExt cx="1029283" cy="5747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9283" cy="574796"/>
            </a:xfrm>
            <a:custGeom>
              <a:avLst/>
              <a:gdLst/>
              <a:ahLst/>
              <a:cxnLst/>
              <a:rect r="r" b="b" t="t" l="l"/>
              <a:pathLst>
                <a:path h="574796" w="1029283">
                  <a:moveTo>
                    <a:pt x="38613" y="0"/>
                  </a:moveTo>
                  <a:lnTo>
                    <a:pt x="990671" y="0"/>
                  </a:lnTo>
                  <a:cubicBezTo>
                    <a:pt x="1011996" y="0"/>
                    <a:pt x="1029283" y="17288"/>
                    <a:pt x="1029283" y="38613"/>
                  </a:cubicBezTo>
                  <a:lnTo>
                    <a:pt x="1029283" y="536184"/>
                  </a:lnTo>
                  <a:cubicBezTo>
                    <a:pt x="1029283" y="557509"/>
                    <a:pt x="1011996" y="574796"/>
                    <a:pt x="990671" y="574796"/>
                  </a:cubicBezTo>
                  <a:lnTo>
                    <a:pt x="38613" y="574796"/>
                  </a:lnTo>
                  <a:cubicBezTo>
                    <a:pt x="17288" y="574796"/>
                    <a:pt x="0" y="557509"/>
                    <a:pt x="0" y="536184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5"/>
              <a:stretch>
                <a:fillRect l="-423" t="0" r="-423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C9AD5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069630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66750" y="733425"/>
            <a:ext cx="5753100" cy="560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-240">
                <a:solidFill>
                  <a:srgbClr val="2C3E5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GUI Components of the Face Attendance System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96400" y="3344989"/>
            <a:ext cx="4010025" cy="1218438"/>
            <a:chOff x="0" y="0"/>
            <a:chExt cx="5346700" cy="1624584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9525"/>
              <a:ext cx="534579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 spc="-42">
                  <a:solidFill>
                    <a:srgbClr val="2C3E5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Camera View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762889"/>
              <a:ext cx="5346700" cy="861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0"/>
                </a:lnSpc>
              </a:pPr>
              <a:r>
                <a:rPr lang="en-US" sz="2000" spc="-30">
                  <a:solidFill>
                    <a:srgbClr val="2C3E5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Displays real-time footage for monitoring attendance.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11225" y="3352800"/>
            <a:ext cx="4010025" cy="1218438"/>
            <a:chOff x="0" y="0"/>
            <a:chExt cx="5346700" cy="1624584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9525"/>
              <a:ext cx="534579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 spc="-42">
                  <a:solidFill>
                    <a:srgbClr val="2C3E5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Attendance List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762889"/>
              <a:ext cx="5346700" cy="861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0"/>
                </a:lnSpc>
              </a:pPr>
              <a:r>
                <a:rPr lang="en-US" sz="2000" spc="-30">
                  <a:solidFill>
                    <a:srgbClr val="2C3E5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Shows registered students with their attendance status.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96400" y="7829550"/>
            <a:ext cx="4010025" cy="1218438"/>
            <a:chOff x="0" y="0"/>
            <a:chExt cx="5346700" cy="1624584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9525"/>
              <a:ext cx="534579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 spc="-42">
                  <a:solidFill>
                    <a:srgbClr val="2C3E5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Admin Panel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762889"/>
              <a:ext cx="5346700" cy="861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0"/>
                </a:lnSpc>
              </a:pPr>
              <a:r>
                <a:rPr lang="en-US" sz="2000" spc="-30">
                  <a:solidFill>
                    <a:srgbClr val="2C3E5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Central interface for managing system operations.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611225" y="7829550"/>
            <a:ext cx="4010025" cy="1218438"/>
            <a:chOff x="0" y="0"/>
            <a:chExt cx="5346700" cy="1624584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9525"/>
              <a:ext cx="534579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 spc="-42">
                  <a:solidFill>
                    <a:srgbClr val="2C3E5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User Management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762889"/>
              <a:ext cx="5346700" cy="861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0"/>
                </a:lnSpc>
              </a:pPr>
              <a:r>
                <a:rPr lang="en-US" sz="2000" spc="-30">
                  <a:solidFill>
                    <a:srgbClr val="2C3E5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Allows adding or removing users easily.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908300"/>
            <a:ext cx="5448300" cy="6711950"/>
            <a:chOff x="0" y="0"/>
            <a:chExt cx="1434943" cy="1767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2908300"/>
            <a:ext cx="5448300" cy="6711950"/>
            <a:chOff x="0" y="0"/>
            <a:chExt cx="1434943" cy="17677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2908300"/>
            <a:ext cx="5448300" cy="6711950"/>
            <a:chOff x="0" y="0"/>
            <a:chExt cx="1434943" cy="17677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6053" y="4248150"/>
            <a:ext cx="4649694" cy="3581400"/>
            <a:chOff x="0" y="0"/>
            <a:chExt cx="1259398" cy="9700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2"/>
              <a:stretch>
                <a:fillRect l="-342" t="0" r="-342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819153" y="4248150"/>
            <a:ext cx="4649694" cy="3581400"/>
            <a:chOff x="0" y="0"/>
            <a:chExt cx="1259398" cy="9700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3"/>
              <a:stretch>
                <a:fillRect l="-342" t="0" r="-342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572253" y="4248150"/>
            <a:ext cx="4649694" cy="3581400"/>
            <a:chOff x="0" y="0"/>
            <a:chExt cx="1259398" cy="9700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4"/>
              <a:stretch>
                <a:fillRect l="-342" t="0" r="-342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21783" y="8282996"/>
            <a:ext cx="4738234" cy="603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2"/>
              </a:lnSpc>
            </a:pPr>
            <a:r>
              <a:rPr lang="en-US" sz="1744" spc="-26">
                <a:solidFill>
                  <a:srgbClr val="95A5A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system stores essential student information for efficient attendance tracking and management.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1066" y="3381375"/>
            <a:ext cx="4699667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 strike="noStrike" u="none">
                <a:solidFill>
                  <a:srgbClr val="95A5A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Student details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73192" y="8282996"/>
            <a:ext cx="4741615" cy="603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2"/>
              </a:lnSpc>
            </a:pPr>
            <a:r>
              <a:rPr lang="en-US" sz="1744" spc="-26">
                <a:solidFill>
                  <a:srgbClr val="95A5A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Attendance records are updated in real-time to provide accurate tracking of student presence.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73192" y="3381375"/>
            <a:ext cx="4741615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 strike="noStrike" u="none">
                <a:solidFill>
                  <a:srgbClr val="95A5A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Attendance records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51109" y="8281844"/>
            <a:ext cx="4691983" cy="603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2"/>
              </a:lnSpc>
            </a:pPr>
            <a:r>
              <a:rPr lang="en-US" sz="1744" spc="-26">
                <a:solidFill>
                  <a:srgbClr val="95A5A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System logs maintain a history of actions taken for security and auditing purposes.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51109" y="3381375"/>
            <a:ext cx="4691983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</a:pPr>
            <a:r>
              <a:rPr lang="en-US" sz="3800" spc="-95">
                <a:solidFill>
                  <a:srgbClr val="95A5A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System logs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</a:pPr>
            <a:r>
              <a:rPr lang="en-US" sz="8000" spc="-200">
                <a:solidFill>
                  <a:srgbClr val="2C3E5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Database Design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908300"/>
            <a:ext cx="5448300" cy="6711950"/>
            <a:chOff x="0" y="0"/>
            <a:chExt cx="1434943" cy="1767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7AE6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2908300"/>
            <a:ext cx="5448300" cy="6711950"/>
            <a:chOff x="0" y="0"/>
            <a:chExt cx="1434943" cy="17677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7AE6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2908300"/>
            <a:ext cx="5448300" cy="6711950"/>
            <a:chOff x="0" y="0"/>
            <a:chExt cx="1434943" cy="17677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7AE6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6053" y="4248150"/>
            <a:ext cx="4649694" cy="3581400"/>
            <a:chOff x="0" y="0"/>
            <a:chExt cx="1259398" cy="9700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2"/>
              <a:stretch>
                <a:fillRect l="-342" t="0" r="-342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819153" y="4248150"/>
            <a:ext cx="4649694" cy="3581400"/>
            <a:chOff x="0" y="0"/>
            <a:chExt cx="1259398" cy="9700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3"/>
              <a:stretch>
                <a:fillRect l="-342" t="0" r="-342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572253" y="4248150"/>
            <a:ext cx="4649694" cy="3581400"/>
            <a:chOff x="0" y="0"/>
            <a:chExt cx="1259398" cy="9700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4"/>
              <a:stretch>
                <a:fillRect l="-342" t="0" r="-342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21783" y="8282996"/>
            <a:ext cx="4738234" cy="553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52"/>
              </a:lnSpc>
            </a:pPr>
            <a:r>
              <a:rPr lang="en-US" sz="1466" spc="-21">
                <a:solidFill>
                  <a:srgbClr val="2C3E5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Ensures all personal data remains safe and </a:t>
            </a:r>
            <a:r>
              <a:rPr lang="en-US" b="true" sz="1466" spc="-21">
                <a:solidFill>
                  <a:srgbClr val="2C3E5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protected from unauthorized access</a:t>
            </a:r>
            <a:r>
              <a:rPr lang="en-US" sz="1466" spc="-21">
                <a:solidFill>
                  <a:srgbClr val="2C3E5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at all times.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1066" y="3381375"/>
            <a:ext cx="4699667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 strike="noStrike" u="none">
                <a:solidFill>
                  <a:srgbClr val="2C3E5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Encryption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73192" y="8282996"/>
            <a:ext cx="4741615" cy="810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52"/>
              </a:lnSpc>
            </a:pPr>
            <a:r>
              <a:rPr lang="en-US" sz="1466" spc="-21">
                <a:solidFill>
                  <a:srgbClr val="2C3E5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Manages who can view or modify data, ensuring only </a:t>
            </a:r>
            <a:r>
              <a:rPr lang="en-US" b="true" sz="1466" spc="-21">
                <a:solidFill>
                  <a:srgbClr val="2C3E5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authorized personnel can access sensitive information</a:t>
            </a:r>
            <a:r>
              <a:rPr lang="en-US" sz="1466" spc="-21">
                <a:solidFill>
                  <a:srgbClr val="2C3E5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73192" y="3381375"/>
            <a:ext cx="4741615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 strike="noStrike" u="none">
                <a:solidFill>
                  <a:srgbClr val="2C3E5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Access Control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51109" y="8281844"/>
            <a:ext cx="4691983" cy="534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52"/>
              </a:lnSpc>
            </a:pPr>
            <a:r>
              <a:rPr lang="en-US" sz="1466" spc="-21">
                <a:solidFill>
                  <a:srgbClr val="2C3E5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Tracks all system activities, providing a detailed record of </a:t>
            </a:r>
            <a:r>
              <a:rPr lang="en-US" b="true" sz="1466" spc="-21">
                <a:solidFill>
                  <a:srgbClr val="2C3E5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who accessed what and when</a:t>
            </a:r>
            <a:r>
              <a:rPr lang="en-US" sz="1466" spc="-21">
                <a:solidFill>
                  <a:srgbClr val="2C3E5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for accountability.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51109" y="3381375"/>
            <a:ext cx="4691983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</a:pPr>
            <a:r>
              <a:rPr lang="en-US" sz="3800" spc="-95">
                <a:solidFill>
                  <a:srgbClr val="2C3E5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Audit Trails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</a:pPr>
            <a:r>
              <a:rPr lang="en-US" sz="8000" spc="-200">
                <a:solidFill>
                  <a:srgbClr val="2C3E5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Security Measures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908300"/>
            <a:ext cx="5448300" cy="6711950"/>
            <a:chOff x="0" y="0"/>
            <a:chExt cx="1434943" cy="1767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2908300"/>
            <a:ext cx="5448300" cy="6711950"/>
            <a:chOff x="0" y="0"/>
            <a:chExt cx="1434943" cy="17677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2908300"/>
            <a:ext cx="5448300" cy="6711950"/>
            <a:chOff x="0" y="0"/>
            <a:chExt cx="1434943" cy="17677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6053" y="4248150"/>
            <a:ext cx="4649694" cy="3581400"/>
            <a:chOff x="0" y="0"/>
            <a:chExt cx="1259398" cy="9700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2"/>
              <a:stretch>
                <a:fillRect l="-342" t="0" r="-342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819153" y="4248150"/>
            <a:ext cx="4649694" cy="3581400"/>
            <a:chOff x="0" y="0"/>
            <a:chExt cx="1259398" cy="9700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3"/>
              <a:stretch>
                <a:fillRect l="-342" t="0" r="-342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572253" y="4248150"/>
            <a:ext cx="4649694" cy="3581400"/>
            <a:chOff x="0" y="0"/>
            <a:chExt cx="1259398" cy="9700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4"/>
              <a:stretch>
                <a:fillRect l="-342" t="0" r="-342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21783" y="8282996"/>
            <a:ext cx="4738234" cy="551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9"/>
              </a:lnSpc>
            </a:pPr>
            <a:r>
              <a:rPr lang="en-US" sz="1549" spc="-23">
                <a:solidFill>
                  <a:srgbClr val="95A5A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system achieves a </a:t>
            </a:r>
            <a:r>
              <a:rPr lang="en-US" b="true" sz="1549" spc="-23">
                <a:solidFill>
                  <a:srgbClr val="95A5A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high detection rate</a:t>
            </a:r>
            <a:r>
              <a:rPr lang="en-US" sz="1549" spc="-23">
                <a:solidFill>
                  <a:srgbClr val="95A5A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ensuring accurate identification of individuals.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1066" y="3381375"/>
            <a:ext cx="4699667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 strike="noStrike" u="none">
                <a:solidFill>
                  <a:srgbClr val="95A5A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Face Detection Rate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73192" y="8282996"/>
            <a:ext cx="4741615" cy="551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9"/>
              </a:lnSpc>
            </a:pPr>
            <a:r>
              <a:rPr lang="en-US" sz="1549" spc="-23">
                <a:solidFill>
                  <a:srgbClr val="95A5A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With optimized algorithms, the system processes images </a:t>
            </a:r>
            <a:r>
              <a:rPr lang="en-US" b="true" sz="1549" spc="-23">
                <a:solidFill>
                  <a:srgbClr val="95A5A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swiftly</a:t>
            </a:r>
            <a:r>
              <a:rPr lang="en-US" sz="1549" spc="-23">
                <a:solidFill>
                  <a:srgbClr val="95A5A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allowing for real-time attendance tracking.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73192" y="3381375"/>
            <a:ext cx="4741615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 strike="noStrike" u="none">
                <a:solidFill>
                  <a:srgbClr val="95A5A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Processing Speed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51109" y="8281844"/>
            <a:ext cx="4691983" cy="551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9"/>
              </a:lnSpc>
            </a:pPr>
            <a:r>
              <a:rPr lang="en-US" sz="1549" spc="-23">
                <a:solidFill>
                  <a:srgbClr val="95A5A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system ensures </a:t>
            </a:r>
            <a:r>
              <a:rPr lang="en-US" b="true" sz="1549" spc="-23">
                <a:solidFill>
                  <a:srgbClr val="95A5A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consistent data reliability</a:t>
            </a:r>
            <a:r>
              <a:rPr lang="en-US" sz="1549" spc="-23">
                <a:solidFill>
                  <a:srgbClr val="95A5A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providing accurate attendance records for all users.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51109" y="3381375"/>
            <a:ext cx="4691983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</a:pPr>
            <a:r>
              <a:rPr lang="en-US" sz="3800" spc="-95">
                <a:solidFill>
                  <a:srgbClr val="95A5A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Data Reliability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</a:pPr>
            <a:r>
              <a:rPr lang="en-US" sz="8000" spc="-200">
                <a:solidFill>
                  <a:srgbClr val="2C3E5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Accuracy and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2C3E5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6545058" cy="8953500"/>
            <a:chOff x="0" y="0"/>
            <a:chExt cx="768828" cy="1051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828" cy="1051741"/>
            </a:xfrm>
            <a:custGeom>
              <a:avLst/>
              <a:gdLst/>
              <a:ahLst/>
              <a:cxnLst/>
              <a:rect r="r" b="b" t="t" l="l"/>
              <a:pathLst>
                <a:path h="1051741" w="768828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14" r="0" b="-41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733425"/>
            <a:ext cx="8324850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-240">
                <a:solidFill>
                  <a:srgbClr val="2C3E5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Benefits for Students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7845425"/>
            <a:ext cx="8324850" cy="177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2C3E5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Face Attendance System simplifies the check-in process, ensuring </a:t>
            </a:r>
            <a:r>
              <a:rPr lang="en-US" b="true" sz="2499" spc="-37" strike="noStrike" u="none">
                <a:solidFill>
                  <a:srgbClr val="2C3E5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hassle-free attendance</a:t>
            </a:r>
            <a:r>
              <a:rPr lang="en-US" sz="2499" spc="-37" strike="noStrike" u="none">
                <a:solidFill>
                  <a:srgbClr val="2C3E5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without manual entry. Students receive instant notifications, enhancing engagement and streamlining communication with instructors and peers.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908300"/>
            <a:ext cx="5448300" cy="6711950"/>
            <a:chOff x="0" y="0"/>
            <a:chExt cx="1434943" cy="1767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2908300"/>
            <a:ext cx="5448300" cy="6711950"/>
            <a:chOff x="0" y="0"/>
            <a:chExt cx="1434943" cy="17677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2908300"/>
            <a:ext cx="5448300" cy="6711950"/>
            <a:chOff x="0" y="0"/>
            <a:chExt cx="1434943" cy="17677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6053" y="4248150"/>
            <a:ext cx="4649694" cy="3581400"/>
            <a:chOff x="0" y="0"/>
            <a:chExt cx="1259398" cy="9700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2"/>
              <a:stretch>
                <a:fillRect l="-342" t="0" r="-342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819153" y="4248150"/>
            <a:ext cx="4649694" cy="3581400"/>
            <a:chOff x="0" y="0"/>
            <a:chExt cx="1259398" cy="9700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3"/>
              <a:stretch>
                <a:fillRect l="-342" t="0" r="-342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572253" y="4248150"/>
            <a:ext cx="4649694" cy="3581400"/>
            <a:chOff x="0" y="0"/>
            <a:chExt cx="1259398" cy="9700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4"/>
              <a:stretch>
                <a:fillRect l="-342" t="0" r="-342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21783" y="8282996"/>
            <a:ext cx="4738234" cy="62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3"/>
              </a:lnSpc>
            </a:pPr>
            <a:r>
              <a:rPr lang="en-US" sz="1716" spc="-25">
                <a:solidFill>
                  <a:srgbClr val="95A5A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Instructors receive </a:t>
            </a:r>
            <a:r>
              <a:rPr lang="en-US" b="true" sz="1716" spc="-25">
                <a:solidFill>
                  <a:srgbClr val="95A5A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instant reports</a:t>
            </a:r>
            <a:r>
              <a:rPr lang="en-US" sz="1716" spc="-25">
                <a:solidFill>
                  <a:srgbClr val="95A5A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on attendance, improving tracking and management efficiency.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1066" y="3381375"/>
            <a:ext cx="4699667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 strike="noStrike" u="none">
                <a:solidFill>
                  <a:srgbClr val="95A5A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Automated Reports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73192" y="8282996"/>
            <a:ext cx="4741615" cy="60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3"/>
              </a:lnSpc>
            </a:pPr>
            <a:r>
              <a:rPr lang="en-US" sz="1716" spc="-25">
                <a:solidFill>
                  <a:srgbClr val="95A5A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system significantly reduces manual entry time, allowing instructors to focus on teaching.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73192" y="3381375"/>
            <a:ext cx="4741615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 strike="noStrike" u="none">
                <a:solidFill>
                  <a:srgbClr val="95A5A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Time Savings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51109" y="8281844"/>
            <a:ext cx="4691983" cy="60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3"/>
              </a:lnSpc>
            </a:pPr>
            <a:r>
              <a:rPr lang="en-US" sz="1716" spc="-25">
                <a:solidFill>
                  <a:srgbClr val="95A5A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Automated processes minimize human errors, enhancing overall accuracy in attendance records.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51109" y="3381375"/>
            <a:ext cx="4691983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</a:pPr>
            <a:r>
              <a:rPr lang="en-US" sz="3800" spc="-95">
                <a:solidFill>
                  <a:srgbClr val="95A5A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Reduced Errors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</a:pPr>
            <a:r>
              <a:rPr lang="en-US" sz="8000" spc="-200">
                <a:solidFill>
                  <a:srgbClr val="2C3E5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Benefits for Instructors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4010025" cy="2340610"/>
            <a:chOff x="0" y="0"/>
            <a:chExt cx="1029283" cy="6007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9283" cy="600782"/>
            </a:xfrm>
            <a:custGeom>
              <a:avLst/>
              <a:gdLst/>
              <a:ahLst/>
              <a:cxnLst/>
              <a:rect r="r" b="b" t="t" l="l"/>
              <a:pathLst>
                <a:path h="600782" w="1029283">
                  <a:moveTo>
                    <a:pt x="38613" y="0"/>
                  </a:moveTo>
                  <a:lnTo>
                    <a:pt x="990671" y="0"/>
                  </a:lnTo>
                  <a:cubicBezTo>
                    <a:pt x="1011996" y="0"/>
                    <a:pt x="1029283" y="17288"/>
                    <a:pt x="1029283" y="38613"/>
                  </a:cubicBezTo>
                  <a:lnTo>
                    <a:pt x="1029283" y="562169"/>
                  </a:lnTo>
                  <a:cubicBezTo>
                    <a:pt x="1029283" y="583494"/>
                    <a:pt x="1011996" y="600782"/>
                    <a:pt x="990671" y="600782"/>
                  </a:cubicBezTo>
                  <a:lnTo>
                    <a:pt x="38613" y="600782"/>
                  </a:lnTo>
                  <a:cubicBezTo>
                    <a:pt x="17288" y="600782"/>
                    <a:pt x="0" y="583494"/>
                    <a:pt x="0" y="562169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2"/>
              <a:stretch>
                <a:fillRect l="-102" t="0" r="-102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3611225" y="5143500"/>
            <a:ext cx="4010025" cy="2238375"/>
            <a:chOff x="0" y="0"/>
            <a:chExt cx="1029283" cy="5745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9283" cy="574541"/>
            </a:xfrm>
            <a:custGeom>
              <a:avLst/>
              <a:gdLst/>
              <a:ahLst/>
              <a:cxnLst/>
              <a:rect r="r" b="b" t="t" l="l"/>
              <a:pathLst>
                <a:path h="574541" w="1029283">
                  <a:moveTo>
                    <a:pt x="38613" y="0"/>
                  </a:moveTo>
                  <a:lnTo>
                    <a:pt x="990671" y="0"/>
                  </a:lnTo>
                  <a:cubicBezTo>
                    <a:pt x="1011996" y="0"/>
                    <a:pt x="1029283" y="17288"/>
                    <a:pt x="1029283" y="38613"/>
                  </a:cubicBezTo>
                  <a:lnTo>
                    <a:pt x="1029283" y="535928"/>
                  </a:lnTo>
                  <a:cubicBezTo>
                    <a:pt x="1029283" y="557253"/>
                    <a:pt x="1011996" y="574541"/>
                    <a:pt x="990671" y="574541"/>
                  </a:cubicBezTo>
                  <a:lnTo>
                    <a:pt x="38613" y="574541"/>
                  </a:lnTo>
                  <a:cubicBezTo>
                    <a:pt x="17288" y="574541"/>
                    <a:pt x="0" y="557253"/>
                    <a:pt x="0" y="535928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3"/>
              <a:stretch>
                <a:fillRect l="-401" t="0" r="-401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611225" y="666750"/>
            <a:ext cx="4010025" cy="2340610"/>
            <a:chOff x="0" y="0"/>
            <a:chExt cx="1029283" cy="6007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9283" cy="600782"/>
            </a:xfrm>
            <a:custGeom>
              <a:avLst/>
              <a:gdLst/>
              <a:ahLst/>
              <a:cxnLst/>
              <a:rect r="r" b="b" t="t" l="l"/>
              <a:pathLst>
                <a:path h="600782" w="1029283">
                  <a:moveTo>
                    <a:pt x="38613" y="0"/>
                  </a:moveTo>
                  <a:lnTo>
                    <a:pt x="990671" y="0"/>
                  </a:lnTo>
                  <a:cubicBezTo>
                    <a:pt x="1011996" y="0"/>
                    <a:pt x="1029283" y="17288"/>
                    <a:pt x="1029283" y="38613"/>
                  </a:cubicBezTo>
                  <a:lnTo>
                    <a:pt x="1029283" y="562169"/>
                  </a:lnTo>
                  <a:cubicBezTo>
                    <a:pt x="1029283" y="583494"/>
                    <a:pt x="1011996" y="600782"/>
                    <a:pt x="990671" y="600782"/>
                  </a:cubicBezTo>
                  <a:lnTo>
                    <a:pt x="38613" y="600782"/>
                  </a:lnTo>
                  <a:cubicBezTo>
                    <a:pt x="17288" y="600782"/>
                    <a:pt x="0" y="583494"/>
                    <a:pt x="0" y="562169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4"/>
              <a:stretch>
                <a:fillRect l="-102" t="0" r="-102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296400" y="5143500"/>
            <a:ext cx="4010025" cy="2239371"/>
            <a:chOff x="0" y="0"/>
            <a:chExt cx="1029283" cy="5747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9283" cy="574796"/>
            </a:xfrm>
            <a:custGeom>
              <a:avLst/>
              <a:gdLst/>
              <a:ahLst/>
              <a:cxnLst/>
              <a:rect r="r" b="b" t="t" l="l"/>
              <a:pathLst>
                <a:path h="574796" w="1029283">
                  <a:moveTo>
                    <a:pt x="38613" y="0"/>
                  </a:moveTo>
                  <a:lnTo>
                    <a:pt x="990671" y="0"/>
                  </a:lnTo>
                  <a:cubicBezTo>
                    <a:pt x="1011996" y="0"/>
                    <a:pt x="1029283" y="17288"/>
                    <a:pt x="1029283" y="38613"/>
                  </a:cubicBezTo>
                  <a:lnTo>
                    <a:pt x="1029283" y="536184"/>
                  </a:lnTo>
                  <a:cubicBezTo>
                    <a:pt x="1029283" y="557509"/>
                    <a:pt x="1011996" y="574796"/>
                    <a:pt x="990671" y="574796"/>
                  </a:cubicBezTo>
                  <a:lnTo>
                    <a:pt x="38613" y="574796"/>
                  </a:lnTo>
                  <a:cubicBezTo>
                    <a:pt x="17288" y="574796"/>
                    <a:pt x="0" y="557509"/>
                    <a:pt x="0" y="536184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5"/>
              <a:stretch>
                <a:fillRect l="-423" t="0" r="-423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C9AD5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069630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66750" y="733425"/>
            <a:ext cx="5753100" cy="4492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-240">
                <a:solidFill>
                  <a:srgbClr val="2C3E5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Future Enhancements for Attendance System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96400" y="3344989"/>
            <a:ext cx="4010025" cy="1170813"/>
            <a:chOff x="0" y="0"/>
            <a:chExt cx="5346700" cy="1561084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9525"/>
              <a:ext cx="5345796" cy="555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45"/>
                </a:lnSpc>
                <a:spcBef>
                  <a:spcPct val="0"/>
                </a:spcBef>
              </a:pPr>
              <a:r>
                <a:rPr lang="en-US" b="true" sz="2537" spc="-38">
                  <a:solidFill>
                    <a:srgbClr val="2C3E5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Multi-location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99389"/>
              <a:ext cx="5346700" cy="861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0"/>
                </a:lnSpc>
              </a:pPr>
              <a:r>
                <a:rPr lang="en-US" sz="2000" spc="-30">
                  <a:solidFill>
                    <a:srgbClr val="2C3E5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Supports attendance tracking across various sites.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11225" y="3352800"/>
            <a:ext cx="4010025" cy="1170813"/>
            <a:chOff x="0" y="0"/>
            <a:chExt cx="5346700" cy="1561084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9525"/>
              <a:ext cx="5345796" cy="555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45"/>
                </a:lnSpc>
                <a:spcBef>
                  <a:spcPct val="0"/>
                </a:spcBef>
              </a:pPr>
              <a:r>
                <a:rPr lang="en-US" b="true" sz="2537" spc="-38">
                  <a:solidFill>
                    <a:srgbClr val="2C3E5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Cloud integration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699389"/>
              <a:ext cx="5346700" cy="861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0"/>
                </a:lnSpc>
              </a:pPr>
              <a:r>
                <a:rPr lang="en-US" sz="2000" spc="-30">
                  <a:solidFill>
                    <a:srgbClr val="2C3E5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Enables remote access and data synchronization.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96400" y="7829550"/>
            <a:ext cx="4010025" cy="1170813"/>
            <a:chOff x="0" y="0"/>
            <a:chExt cx="5346700" cy="1561084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9525"/>
              <a:ext cx="5345796" cy="555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45"/>
                </a:lnSpc>
                <a:spcBef>
                  <a:spcPct val="0"/>
                </a:spcBef>
              </a:pPr>
              <a:r>
                <a:rPr lang="en-US" b="true" sz="2537" spc="-38">
                  <a:solidFill>
                    <a:srgbClr val="2C3E5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Mobile app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699389"/>
              <a:ext cx="5346700" cy="861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0"/>
                </a:lnSpc>
              </a:pPr>
              <a:r>
                <a:rPr lang="en-US" sz="2000" spc="-30">
                  <a:solidFill>
                    <a:srgbClr val="2C3E5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Offers convenience for user attendance tracking.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611225" y="7829550"/>
            <a:ext cx="4010025" cy="1170813"/>
            <a:chOff x="0" y="0"/>
            <a:chExt cx="5346700" cy="1561084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9525"/>
              <a:ext cx="5345796" cy="555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45"/>
                </a:lnSpc>
                <a:spcBef>
                  <a:spcPct val="0"/>
                </a:spcBef>
              </a:pPr>
              <a:r>
                <a:rPr lang="en-US" b="true" sz="2537" spc="-38">
                  <a:solidFill>
                    <a:srgbClr val="2C3E5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Enhanced user experience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699389"/>
              <a:ext cx="5346700" cy="861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0"/>
                </a:lnSpc>
              </a:pPr>
              <a:r>
                <a:rPr lang="en-US" sz="2000" spc="-30">
                  <a:solidFill>
                    <a:srgbClr val="2C3E5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Provides an intuitive interface for all users.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908300"/>
            <a:ext cx="5448300" cy="6711950"/>
            <a:chOff x="0" y="0"/>
            <a:chExt cx="1434943" cy="1767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2908300"/>
            <a:ext cx="5448300" cy="6711950"/>
            <a:chOff x="0" y="0"/>
            <a:chExt cx="1434943" cy="17677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2908300"/>
            <a:ext cx="5448300" cy="6711950"/>
            <a:chOff x="0" y="0"/>
            <a:chExt cx="1434943" cy="17677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6053" y="4248150"/>
            <a:ext cx="4649694" cy="3581400"/>
            <a:chOff x="0" y="0"/>
            <a:chExt cx="1259398" cy="9700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2"/>
              <a:stretch>
                <a:fillRect l="-342" t="0" r="-342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819153" y="4248150"/>
            <a:ext cx="4649694" cy="3581400"/>
            <a:chOff x="0" y="0"/>
            <a:chExt cx="1259398" cy="9700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3"/>
              <a:stretch>
                <a:fillRect l="-342" t="0" r="-342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572253" y="4248150"/>
            <a:ext cx="4649694" cy="3581400"/>
            <a:chOff x="0" y="0"/>
            <a:chExt cx="1259398" cy="9700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4"/>
              <a:stretch>
                <a:fillRect l="-342" t="0" r="-342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21783" y="8273471"/>
            <a:ext cx="4738234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5"/>
              </a:lnSpc>
            </a:pPr>
            <a:r>
              <a:rPr lang="en-US" sz="1875" spc="-28">
                <a:solidFill>
                  <a:srgbClr val="95A5A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system captures live video feed for real-time analysis and processing.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1066" y="3381375"/>
            <a:ext cx="4699667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 strike="noStrike" u="none">
                <a:solidFill>
                  <a:srgbClr val="95A5A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Camera Input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73192" y="8273471"/>
            <a:ext cx="4741615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5"/>
              </a:lnSpc>
            </a:pPr>
            <a:r>
              <a:rPr lang="en-US" sz="1875" spc="-28">
                <a:solidFill>
                  <a:srgbClr val="95A5A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Advanced algorithms identify and verify faces within the captured video stream.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73192" y="3381375"/>
            <a:ext cx="4741615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 strike="noStrike" u="none">
                <a:solidFill>
                  <a:srgbClr val="95A5A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Face Detection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51109" y="8272319"/>
            <a:ext cx="4691983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5"/>
              </a:lnSpc>
            </a:pPr>
            <a:r>
              <a:rPr lang="en-US" sz="1875" spc="-28">
                <a:solidFill>
                  <a:srgbClr val="95A5A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Detected faces are logged into the attendance database for accurate tracking and reporting.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51109" y="3381375"/>
            <a:ext cx="4691983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</a:pPr>
            <a:r>
              <a:rPr lang="en-US" sz="3800" spc="-95">
                <a:solidFill>
                  <a:srgbClr val="95A5A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Attendance Record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</a:pPr>
            <a:r>
              <a:rPr lang="en-US" sz="8000" spc="-200">
                <a:solidFill>
                  <a:srgbClr val="2C3E5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Flow Diagram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2C3E5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6545058" cy="8953500"/>
            <a:chOff x="0" y="0"/>
            <a:chExt cx="768828" cy="1051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828" cy="1051741"/>
            </a:xfrm>
            <a:custGeom>
              <a:avLst/>
              <a:gdLst/>
              <a:ahLst/>
              <a:cxnLst/>
              <a:rect r="r" b="b" t="t" l="l"/>
              <a:pathLst>
                <a:path h="1051741" w="768828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14" r="0" b="-41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733425"/>
            <a:ext cx="8324850" cy="337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-240">
                <a:solidFill>
                  <a:srgbClr val="2C3E5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Classroom Attendance Innovation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7407275"/>
            <a:ext cx="8324850" cy="221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2C3E5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Face Attendance System provides </a:t>
            </a:r>
            <a:r>
              <a:rPr lang="en-US" b="true" sz="2499" spc="-37" strike="noStrike" u="none">
                <a:solidFill>
                  <a:srgbClr val="2C3E5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efficient</a:t>
            </a:r>
            <a:r>
              <a:rPr lang="en-US" sz="2499" spc="-37" strike="noStrike" u="none">
                <a:solidFill>
                  <a:srgbClr val="2C3E5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attendance tracking in classrooms, enhancing the learning experience by automating check-ins. This technology empowers both instructors and students through seamless integration and user-friendly interfaces.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2C3E5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9001760"/>
            <a:ext cx="8324850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2C3E5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Key features of the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19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2C3E5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Summary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Face Attendance System</dc:description>
  <dc:identifier>DAG5JcF2csM</dc:identifier>
  <dcterms:modified xsi:type="dcterms:W3CDTF">2011-08-01T06:04:30Z</dcterms:modified>
  <cp:revision>1</cp:revision>
  <dc:title>Presentation - Face Attendance System</dc:title>
</cp:coreProperties>
</file>